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658368"/>
            <a:ext cx="164592" cy="86868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530352"/>
            <a:ext cx="201168" cy="9966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658368"/>
            <a:ext cx="146304" cy="868680"/>
          </a:xfrm>
          <a:prstGeom prst="rect">
            <a:avLst/>
          </a:prstGeom>
          <a:solidFill>
            <a:srgbClr val="FFCC60"/>
          </a:solidFill>
          <a:ln w="12700">
            <a:solidFill>
              <a:srgbClr val="FFCC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FIREPRO AI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&amp; Object Surveillance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023360" cy="0"/>
          </a:xfrm>
          <a:prstGeom prst="line">
            <a:avLst/>
          </a:prstGeom>
          <a:noFill/>
          <a:ln w="9525">
            <a:solidFill>
              <a:srgbClr val="1A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035808"/>
            <a:ext cx="914400" cy="256032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60"/>
                </a:solidFill>
              </a:rPr>
              <a:t>YOLOv8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353312" y="3035808"/>
            <a:ext cx="914400" cy="256032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60"/>
                </a:solidFill>
              </a:rPr>
              <a:t>Flask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340864" y="3035808"/>
            <a:ext cx="914400" cy="256032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40864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60"/>
                </a:solidFill>
              </a:rPr>
              <a:t>Firebase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28416" y="3035808"/>
            <a:ext cx="914400" cy="256032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60"/>
                </a:solidFill>
              </a:rPr>
              <a:t>Real-Time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0" y="457200"/>
            <a:ext cx="3474720" cy="41148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777240"/>
            <a:ext cx="1097280" cy="82296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FF303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303520" y="777240"/>
            <a:ext cx="1097280" cy="256032"/>
          </a:xfrm>
          <a:prstGeom prst="rect">
            <a:avLst/>
          </a:prstGeom>
          <a:solidFill>
            <a:srgbClr val="FF30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3030"/>
                </a:solidFill>
              </a:rPr>
              <a:t>FIRE  92%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766560" y="1188720"/>
            <a:ext cx="1280160" cy="164592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30E8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188720"/>
            <a:ext cx="1280160" cy="237744"/>
          </a:xfrm>
          <a:prstGeom prst="rect">
            <a:avLst/>
          </a:prstGeom>
          <a:solidFill>
            <a:srgbClr val="30E8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0E878"/>
                </a:solidFill>
              </a:rPr>
              <a:t>PERSON  87%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212080" y="548640"/>
            <a:ext cx="16459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548640"/>
            <a:ext cx="0" cy="16459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548640"/>
            <a:ext cx="16459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548640"/>
            <a:ext cx="0" cy="16459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4023360"/>
            <a:ext cx="16459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4023360"/>
            <a:ext cx="0" cy="16459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023360"/>
            <a:ext cx="16459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4023360"/>
            <a:ext cx="0" cy="16459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4206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6070"/>
                </a:solidFill>
              </a:rPr>
              <a:t>LIVE DETECTION PREVIEW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6070"/>
                </a:solidFill>
              </a:rPr>
              <a:t>AI-Powered  ·  Real-Time  ·  Email Alerts  ·  Cloud Database  ·  Excel Reports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6070"/>
                </a:solidFill>
              </a:rPr>
              <a:t>FirePro AI  |  Smart Surveillance System  |  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B10"/>
                </a:solidFill>
              </a:rPr>
              <a:t>CONTENTS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97480" cy="137160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457200" cy="1371600"/>
          </a:xfrm>
          <a:prstGeom prst="rect">
            <a:avLst/>
          </a:prstGeom>
          <a:solidFill>
            <a:srgbClr val="F5A623"/>
          </a:solidFill>
          <a:ln w="6350">
            <a:solidFill>
              <a:srgbClr val="1A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10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1536192"/>
            <a:ext cx="320040" cy="320040"/>
          </a:xfrm>
          <a:prstGeom prst="ellipse">
            <a:avLst/>
          </a:prstGeom>
          <a:solidFill>
            <a:srgbClr val="060B10"/>
          </a:solidFill>
          <a:ln w="12700">
            <a:solidFill>
              <a:srgbClr val="060B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920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motivation, system overview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37560" y="1371600"/>
            <a:ext cx="2697480" cy="137160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371600"/>
            <a:ext cx="45720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3716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1536192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920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2240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target outcomes, key metrics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2697480" cy="137160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371600"/>
            <a:ext cx="45720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3716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1536192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920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22402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tech stack, AI pipeline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2697480" cy="137160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926080"/>
            <a:ext cx="45720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2608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5840" y="3090672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3794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flow, detection to alert lifecycle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37560" y="2926080"/>
            <a:ext cx="2697480" cy="137160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2926080"/>
            <a:ext cx="45720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292608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86200" y="3090672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0480" y="3794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achievements, system impact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17920" y="2926080"/>
            <a:ext cx="2697480" cy="137160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2926080"/>
            <a:ext cx="457200" cy="1371600"/>
          </a:xfrm>
          <a:prstGeom prst="rect">
            <a:avLst/>
          </a:prstGeom>
          <a:solidFill>
            <a:srgbClr val="112030"/>
          </a:solidFill>
          <a:ln w="6350">
            <a:solidFill>
              <a:srgbClr val="1A3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92608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06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66560" y="3090672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720840" y="37947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Enhancements, scale-up, next features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6070"/>
                </a:solidFill>
              </a:rPr>
              <a:t>FirePro AI  |  Smart Surveillance System  |  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B10"/>
                </a:solidFill>
              </a:rPr>
              <a:t>01 — INTRODUCTION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FirePro AI?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4023360" cy="347472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234440"/>
            <a:ext cx="4023360" cy="347472"/>
          </a:xfrm>
          <a:prstGeom prst="rect">
            <a:avLst/>
          </a:prstGeom>
          <a:solidFill>
            <a:srgbClr val="1120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[ALERT]  THE PROBLEM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737360"/>
            <a:ext cx="256032" cy="256032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37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17373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8E8"/>
                </a:solidFill>
              </a:rPr>
              <a:t>Fire incidents cause massive loss of life &amp; property each year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240280"/>
            <a:ext cx="256032" cy="256032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2240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8E8"/>
                </a:solidFill>
              </a:rPr>
              <a:t>Traditional smoke detectors only alert — no visual confirmation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2743200"/>
            <a:ext cx="256032" cy="256032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27432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8E8"/>
                </a:solidFill>
              </a:rPr>
              <a:t>Human monitoring of cameras is expensive and unreliable 24/7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3246120"/>
            <a:ext cx="256032" cy="256032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32461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8E8"/>
                </a:solidFill>
              </a:rPr>
              <a:t>Delayed detection increases damage exponentially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3749040"/>
            <a:ext cx="256032" cy="256032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8E8"/>
                </a:solidFill>
              </a:rPr>
              <a:t>No automatic logging or evidence for fire incidents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023360" cy="347472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1234440"/>
            <a:ext cx="4023360" cy="347472"/>
          </a:xfrm>
          <a:prstGeom prst="rect">
            <a:avLst/>
          </a:prstGeom>
          <a:solidFill>
            <a:srgbClr val="1120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0E878"/>
                </a:solidFill>
              </a:rPr>
              <a:t>[OK]  THE SOLUTION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1737360"/>
            <a:ext cx="256032" cy="256032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737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0"/>
                </a:solidFill>
              </a:rPr>
              <a:t>OK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66360" y="17373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8E8"/>
                </a:solidFill>
              </a:rPr>
              <a:t>AI-powered YOLOv8 detects fire, smoke &amp; objects in real-time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2240280"/>
            <a:ext cx="256032" cy="256032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0"/>
                </a:solidFill>
              </a:rPr>
              <a:t>OK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6360" y="2240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8E8"/>
                </a:solidFill>
              </a:rPr>
              <a:t>Live web dashboard streams camera feed to any browser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2743200"/>
            <a:ext cx="256032" cy="256032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0"/>
                </a:solidFill>
              </a:rPr>
              <a:t>OK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27432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8E8"/>
                </a:solidFill>
              </a:rPr>
              <a:t>Instant email alerts with screenshot when threat detected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3246120"/>
            <a:ext cx="256032" cy="256032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0"/>
                </a:solidFill>
              </a:rPr>
              <a:t>OK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6360" y="32461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8E8"/>
                </a:solidFill>
              </a:rPr>
              <a:t>Detections saved to Firebase cloud database automatically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3749040"/>
            <a:ext cx="256032" cy="256032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0"/>
                </a:solidFill>
              </a:rPr>
              <a:t>OK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8E8"/>
                </a:solidFill>
              </a:rPr>
              <a:t>Excel reports with full detection history and charts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15968" y="2560320"/>
            <a:ext cx="512064" cy="51206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15968" y="2560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0"/>
                </a:solidFill>
              </a:rPr>
              <a:t>VS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6070"/>
                </a:solidFill>
              </a:rPr>
              <a:t>FirePro AI  |  Smart Surveillance System  |  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B10"/>
                </a:solidFill>
              </a:rPr>
              <a:t>02 — OBJECTIVE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Target Outcomes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2697480" cy="1627632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2697480" cy="54864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258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" y="16916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Fire Detection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03911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fire and smoke within milliseconds using YOLOv8 AI model running at 8 inference frames per second on any standard webcam or IP camera.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37560" y="1234440"/>
            <a:ext cx="2697480" cy="1627632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234440"/>
            <a:ext cx="2697480" cy="54864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3258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47288" y="16916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Web Monitoring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47288" y="203911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live web dashboard accessible from any browser — stream camera feed at 25 FPS with zero need to install any software on the monitoring device.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2697480" cy="1627632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234440"/>
            <a:ext cx="2697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3258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27648" y="16916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Admin Alerts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27648" y="203911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automatic email notifications with embedded screenshots within seconds of detection. Configurable cooldown to prevent alert spam.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2697480" cy="1627632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17520"/>
            <a:ext cx="2697480" cy="54864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108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E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Storage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82219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every detection event to Google Firebase Firestore with timestamp, confidence score, severity and bounding box for full audit trail.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37560" y="3017520"/>
            <a:ext cx="2697480" cy="1627632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3017520"/>
            <a:ext cx="2697480" cy="54864"/>
          </a:xfrm>
          <a:prstGeom prst="rect">
            <a:avLst/>
          </a:prstGeom>
          <a:solidFill>
            <a:srgbClr val="FFCC60"/>
          </a:solidFill>
          <a:ln w="12700">
            <a:solidFill>
              <a:srgbClr val="FFCC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3108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447288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47288" y="382219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formatted Excel reports with detection history, severity breakdown, 7-day trend charts and label frequency analysis.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17920" y="3017520"/>
            <a:ext cx="2697480" cy="1627632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017520"/>
            <a:ext cx="2697480" cy="54864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3108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327648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Access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27648" y="3822192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Email/Password authentication protects the dashboard. Session-based login ensures only authorized admins access the system.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6070"/>
                </a:solidFill>
              </a:rPr>
              <a:t>FirePro AI  |  Smart Surveillance System  |  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B10"/>
                </a:solidFill>
              </a:rPr>
              <a:t>03 — METHODOLOGY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Technology Stack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00" cy="1115568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07008"/>
            <a:ext cx="1417320" cy="1115568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07008"/>
            <a:ext cx="1417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0"/>
                </a:solidFill>
              </a:rPr>
              <a:t>FRONTEND LAYER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57400" y="1389888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00C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389888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Dashboard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74136" y="1389888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00C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389888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 Feed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90872" y="1389888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00C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1389888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Analytics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07608" y="1389888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00C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07608" y="1389888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SDK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324344" y="1389888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00C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24344" y="1389888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Alerts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0" y="2322576"/>
            <a:ext cx="0" cy="292608"/>
          </a:xfrm>
          <a:prstGeom prst="line">
            <a:avLst/>
          </a:prstGeom>
          <a:noFill/>
          <a:ln w="12700">
            <a:solidFill>
              <a:srgbClr val="00C8F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" y="2487168"/>
            <a:ext cx="8229600" cy="1115568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487168"/>
            <a:ext cx="1417320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87168"/>
            <a:ext cx="1417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0"/>
                </a:solidFill>
              </a:rPr>
              <a:t>BACKEND LAYER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57400" y="2670048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2670048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Server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74136" y="2670048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2670048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 Streaming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90872" y="2670048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2670048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3-Thread Camera Pipeline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007608" y="2670048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07608" y="2670048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Detection Engine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324344" y="2670048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24344" y="2670048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Email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0" y="3602736"/>
            <a:ext cx="0" cy="292608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57200" y="3749040"/>
            <a:ext cx="8229600" cy="1115568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749040"/>
            <a:ext cx="1417320" cy="1115568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749040"/>
            <a:ext cx="1417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0"/>
                </a:solidFill>
              </a:rPr>
              <a:t>DATA LAYER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57400" y="3931920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30E87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57400" y="3931920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Firestore DB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374136" y="3931920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30E8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74136" y="3931920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90872" y="3931920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30E87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90872" y="3931920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(openpyxl)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07608" y="3931920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30E87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07608" y="3931920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Alert Screenshots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324344" y="3931920"/>
            <a:ext cx="1188720" cy="749808"/>
          </a:xfrm>
          <a:prstGeom prst="rect">
            <a:avLst/>
          </a:prstGeom>
          <a:solidFill>
            <a:srgbClr val="112030"/>
          </a:solidFill>
          <a:ln w="6350">
            <a:solidFill>
              <a:srgbClr val="30E87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24344" y="3931920"/>
            <a:ext cx="11887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History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6070"/>
                </a:solidFill>
              </a:rPr>
              <a:t>FirePro AI  |  Smart Surveillance System  |  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B10"/>
                </a:solidFill>
              </a:rPr>
              <a:t>03 — PROJECT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 — How It Works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508760" cy="123444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1508760" cy="64008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80160"/>
            <a:ext cx="329184" cy="329184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0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1261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0"/>
                </a:solidFill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2064" y="1719072"/>
            <a:ext cx="1399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Frame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65960" y="1805940"/>
            <a:ext cx="566928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68296" y="17145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48840" y="1188720"/>
            <a:ext cx="1508760" cy="123444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148840" y="1188720"/>
            <a:ext cx="15087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1992" y="128016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21992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0"/>
                </a:solidFill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51760" y="1261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203704" y="1719072"/>
            <a:ext cx="1399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AI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0" y="1805940"/>
            <a:ext cx="566928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59936" y="17145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40480" y="1188720"/>
            <a:ext cx="1508760" cy="123444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0" y="1188720"/>
            <a:ext cx="1508760" cy="64008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280160"/>
            <a:ext cx="329184" cy="329184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3632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0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43400" y="1261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3030"/>
                </a:solidFill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95344" y="1719072"/>
            <a:ext cx="1399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49240" y="1805940"/>
            <a:ext cx="566928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51576" y="17145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</a:rPr>
              <a:t>▶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532120" y="1188720"/>
            <a:ext cx="1508760" cy="123444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32120" y="1188720"/>
            <a:ext cx="1508760" cy="64008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05272" y="1280160"/>
            <a:ext cx="329184" cy="329184"/>
          </a:xfrm>
          <a:prstGeom prst="ellipse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05272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0"/>
                </a:solidFill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1261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0E878"/>
                </a:solidFill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586984" y="1719072"/>
            <a:ext cx="1399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040880" y="1805940"/>
            <a:ext cx="566928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43216" y="17145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</a:rPr>
              <a:t>▶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223760" y="1188720"/>
            <a:ext cx="1508760" cy="123444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23760" y="1188720"/>
            <a:ext cx="1508760" cy="64008"/>
          </a:xfrm>
          <a:prstGeom prst="rect">
            <a:avLst/>
          </a:prstGeom>
          <a:solidFill>
            <a:srgbClr val="FFCC60"/>
          </a:solidFill>
          <a:ln w="12700">
            <a:solidFill>
              <a:srgbClr val="FFCC6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96912" y="1280160"/>
            <a:ext cx="329184" cy="329184"/>
          </a:xfrm>
          <a:prstGeom prst="ellipse">
            <a:avLst/>
          </a:prstGeom>
          <a:solidFill>
            <a:srgbClr val="FFCC60"/>
          </a:solidFill>
          <a:ln w="12700">
            <a:solidFill>
              <a:srgbClr val="FFCC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0"/>
                </a:solidFill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26680" y="1261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C60"/>
                </a:solidFill>
              </a:rPr>
              <a:t>5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278624" y="1719072"/>
            <a:ext cx="1399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&amp;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Feed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81728" y="2423160"/>
            <a:ext cx="0" cy="384048"/>
          </a:xfrm>
          <a:prstGeom prst="line">
            <a:avLst/>
          </a:prstGeom>
          <a:noFill/>
          <a:ln w="12700">
            <a:solidFill>
              <a:srgbClr val="FF3030"/>
            </a:solidFill>
            <a:prstDash val="sysDash"/>
          </a:ln>
        </p:spPr>
      </p:sp>
      <p:sp>
        <p:nvSpPr>
          <p:cNvPr id="48" name="Shape 46"/>
          <p:cNvSpPr/>
          <p:nvPr/>
        </p:nvSpPr>
        <p:spPr>
          <a:xfrm>
            <a:off x="457200" y="2880360"/>
            <a:ext cx="2468880" cy="141732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" y="2880360"/>
            <a:ext cx="54864" cy="1417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5216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 Sent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5216" y="3319272"/>
            <a:ext cx="219456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" y="33924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MIMEMultipart HTML email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85216" y="36118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Screenshot JPEG embedded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85216" y="383133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Sent via Gmail SMTP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85216" y="40507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Cooldown: 60 seconds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154680" y="2880360"/>
            <a:ext cx="2468880" cy="141732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154680" y="2880360"/>
            <a:ext cx="54864" cy="1417320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82696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Record Saved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282696" y="3319272"/>
            <a:ext cx="219456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82696" y="33924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label, conf, severity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282696" y="36118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date, time, timestamp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282696" y="383133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bbox coordinates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282696" y="40507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Firebase ServerTimestamp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852160" y="2880360"/>
            <a:ext cx="2834640" cy="141732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852160" y="2880360"/>
            <a:ext cx="54864" cy="1417320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0176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Streamed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980176" y="3319272"/>
            <a:ext cx="2560320" cy="0"/>
          </a:xfrm>
          <a:prstGeom prst="line">
            <a:avLst/>
          </a:prstGeom>
          <a:noFill/>
          <a:ln w="6350">
            <a:solidFill>
              <a:srgbClr val="1A30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80176" y="339242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cv2.imencode → JPEG (55% quality)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980176" y="361188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base64 encode → WebSocket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980176" y="383133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Browser renders at 25 FPS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5980176" y="405079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D8E8"/>
                </a:solidFill>
              </a:rPr>
              <a:t>• Annotated boxes overlaid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6070"/>
                </a:solidFill>
              </a:rPr>
              <a:t>FirePro AI  |  Smart Surveillance System  |  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B10"/>
                </a:solidFill>
              </a:rPr>
              <a:t>03 — PROJECT FLOW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3-Thread Camera Pipeline — Speed Architecture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06070"/>
                </a:solidFill>
              </a:rPr>
              <a:t>WHY WE MOVED TO 3 THREADS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4023360" cy="214884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08760"/>
            <a:ext cx="4023360" cy="310896"/>
          </a:xfrm>
          <a:prstGeom prst="rect">
            <a:avLst/>
          </a:prstGeom>
          <a:solidFill>
            <a:srgbClr val="1120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3030"/>
                </a:solidFill>
              </a:rPr>
              <a:t>OLD — Single Thread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1901952"/>
            <a:ext cx="3794760" cy="320040"/>
          </a:xfrm>
          <a:prstGeom prst="rect">
            <a:avLst/>
          </a:prstGeom>
          <a:solidFill>
            <a:srgbClr val="0A1520"/>
          </a:solidFill>
          <a:ln w="5080">
            <a:solidFill>
              <a:srgbClr val="1A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901952"/>
            <a:ext cx="45720" cy="320040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901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cap.read() 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2286000"/>
            <a:ext cx="3794760" cy="320040"/>
          </a:xfrm>
          <a:prstGeom prst="rect">
            <a:avLst/>
          </a:prstGeom>
          <a:solidFill>
            <a:srgbClr val="0A1520"/>
          </a:solidFill>
          <a:ln w="5080">
            <a:solidFill>
              <a:srgbClr val="1A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286000"/>
            <a:ext cx="45720" cy="320040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YOLO (300ms wait) →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" y="2670048"/>
            <a:ext cx="3794760" cy="320040"/>
          </a:xfrm>
          <a:prstGeom prst="rect">
            <a:avLst/>
          </a:prstGeom>
          <a:solidFill>
            <a:srgbClr val="0A1520"/>
          </a:solidFill>
          <a:ln w="5080">
            <a:solidFill>
              <a:srgbClr val="1A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670048"/>
            <a:ext cx="45720" cy="320040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670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encode() →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" y="3054096"/>
            <a:ext cx="3794760" cy="320040"/>
          </a:xfrm>
          <a:prstGeom prst="rect">
            <a:avLst/>
          </a:prstGeom>
          <a:solidFill>
            <a:srgbClr val="0A1520"/>
          </a:solidFill>
          <a:ln w="5080">
            <a:solidFill>
              <a:srgbClr val="1A3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054096"/>
            <a:ext cx="45720" cy="320040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0540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emit()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338328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3030"/>
                </a:solidFill>
              </a:rPr>
              <a:t>Camera blocked waiting for YOLO every frame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0" y="1554480"/>
            <a:ext cx="1188720" cy="475488"/>
          </a:xfrm>
          <a:prstGeom prst="rect">
            <a:avLst/>
          </a:prstGeom>
          <a:solidFill>
            <a:srgbClr val="2A0808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15544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3030"/>
                </a:solidFill>
              </a:rPr>
              <a:t>~3 FPS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663440" y="1508760"/>
            <a:ext cx="4023360" cy="214884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1508760"/>
            <a:ext cx="4023360" cy="310896"/>
          </a:xfrm>
          <a:prstGeom prst="rect">
            <a:avLst/>
          </a:prstGeom>
          <a:solidFill>
            <a:srgbClr val="1120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0E878"/>
                </a:solidFill>
              </a:rPr>
              <a:t>NEW — 3-Thread Pipeline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73168" y="1901952"/>
            <a:ext cx="3794760" cy="320040"/>
          </a:xfrm>
          <a:prstGeom prst="rect">
            <a:avLst/>
          </a:prstGeom>
          <a:solidFill>
            <a:srgbClr val="0A1520"/>
          </a:solidFill>
          <a:ln w="5080">
            <a:solidFill>
              <a:srgbClr val="1A3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1901952"/>
            <a:ext cx="45720" cy="320040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901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Thread 1: Camera (30fps)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73168" y="2286000"/>
            <a:ext cx="3794760" cy="320040"/>
          </a:xfrm>
          <a:prstGeom prst="rect">
            <a:avLst/>
          </a:prstGeom>
          <a:solidFill>
            <a:srgbClr val="0A1520"/>
          </a:solidFill>
          <a:ln w="5080">
            <a:solidFill>
              <a:srgbClr val="1A30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73168" y="2286000"/>
            <a:ext cx="45720" cy="320040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Thread 2: YOLO (8fps)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73168" y="2670048"/>
            <a:ext cx="3794760" cy="320040"/>
          </a:xfrm>
          <a:prstGeom prst="rect">
            <a:avLst/>
          </a:prstGeom>
          <a:solidFill>
            <a:srgbClr val="0A1520"/>
          </a:solidFill>
          <a:ln w="5080">
            <a:solidFill>
              <a:srgbClr val="1A30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670048"/>
            <a:ext cx="45720" cy="320040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670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Thread 3: Emitter (25fps)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73168" y="3054096"/>
            <a:ext cx="3794760" cy="320040"/>
          </a:xfrm>
          <a:prstGeom prst="rect">
            <a:avLst/>
          </a:prstGeom>
          <a:solidFill>
            <a:srgbClr val="0A1520"/>
          </a:solidFill>
          <a:ln w="5080">
            <a:solidFill>
              <a:srgbClr val="1A30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3054096"/>
            <a:ext cx="45720" cy="320040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0540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Queue buffers between threads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73168" y="338328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0E878"/>
                </a:solidFill>
              </a:rPr>
              <a:t>Camera never blocked — runs fully parallel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406640" y="1554480"/>
            <a:ext cx="1188720" cy="475488"/>
          </a:xfrm>
          <a:prstGeom prst="rect">
            <a:avLst/>
          </a:prstGeom>
          <a:solidFill>
            <a:srgbClr val="082A10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15544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0E878"/>
                </a:solidFill>
              </a:rPr>
              <a:t>25 FPS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2976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A623"/>
                </a:solidFill>
              </a:rPr>
              <a:t>→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06070"/>
                </a:solidFill>
              </a:rPr>
              <a:t>QUEUE-BASED THREAD COMMUNICATION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0040" y="4041648"/>
            <a:ext cx="1325880" cy="713232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20040" y="404164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645920" y="4398264"/>
            <a:ext cx="13716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83080" y="4041648"/>
            <a:ext cx="1097280" cy="713232"/>
          </a:xfrm>
          <a:prstGeom prst="rect">
            <a:avLst/>
          </a:prstGeom>
          <a:solidFill>
            <a:srgbClr val="0A15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783080" y="4041648"/>
            <a:ext cx="1097280" cy="713232"/>
          </a:xfrm>
          <a:prstGeom prst="rect">
            <a:avLst/>
          </a:prstGeom>
          <a:solidFill>
            <a:srgbClr val="0A1520"/>
          </a:solidFill>
          <a:ln w="6350">
            <a:solidFill>
              <a:srgbClr val="F5A623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783080" y="40416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_frame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_queue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880360" y="4398264"/>
            <a:ext cx="13716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17520" y="4041648"/>
            <a:ext cx="1325880" cy="713232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017520" y="404164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43400" y="4398264"/>
            <a:ext cx="13716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80560" y="4041648"/>
            <a:ext cx="1097280" cy="713232"/>
          </a:xfrm>
          <a:prstGeom prst="rect">
            <a:avLst/>
          </a:prstGeom>
          <a:solidFill>
            <a:srgbClr val="0A15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480560" y="4041648"/>
            <a:ext cx="1097280" cy="713232"/>
          </a:xfrm>
          <a:prstGeom prst="rect">
            <a:avLst/>
          </a:prstGeom>
          <a:solidFill>
            <a:srgbClr val="0A1520"/>
          </a:solidFill>
          <a:ln w="6350">
            <a:solidFill>
              <a:srgbClr val="F5A623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4480560" y="404164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_result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_queue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577840" y="4398264"/>
            <a:ext cx="13716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15000" y="4041648"/>
            <a:ext cx="1325880" cy="713232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715000" y="404164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0E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0E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040880" y="4398264"/>
            <a:ext cx="13716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78040" y="4041648"/>
            <a:ext cx="1325880" cy="713232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178040" y="4041648"/>
            <a:ext cx="1325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25FPS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6070"/>
                </a:solidFill>
              </a:rPr>
              <a:t>FirePro AI  |  Smart Surveillance System  |  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B10"/>
                </a:solidFill>
              </a:rPr>
              <a:t>05 — CONCLUSION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2011680" cy="123444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07008"/>
            <a:ext cx="2011680" cy="54864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9844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Live Stream Speed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33472" y="1207008"/>
            <a:ext cx="2011680" cy="123444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33472" y="1207008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29844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633472" y="1965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/sec YOLO Inferences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9744" y="1207008"/>
            <a:ext cx="2011680" cy="123444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9744" y="1207008"/>
            <a:ext cx="2011680" cy="54864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29844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0E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809744" y="1965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Alert Delivery Time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86016" y="1207008"/>
            <a:ext cx="2011680" cy="1234440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86016" y="1207008"/>
            <a:ext cx="2011680" cy="54864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6016" y="129844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986016" y="1965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AI Models Running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578608"/>
            <a:ext cx="4023360" cy="2121408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2578608"/>
            <a:ext cx="4023360" cy="310896"/>
          </a:xfrm>
          <a:prstGeom prst="rect">
            <a:avLst/>
          </a:prstGeom>
          <a:solidFill>
            <a:srgbClr val="1120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0E878"/>
                </a:solidFill>
              </a:rPr>
              <a:t>[OK]  KEY ACHIEVEMENTS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" y="2971800"/>
            <a:ext cx="201168" cy="201168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971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0"/>
                </a:solidFill>
              </a:rPr>
              <a:t>OK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868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3-thread pipeline delivers 25 FPS live video stream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4360" y="3264408"/>
            <a:ext cx="201168" cy="201168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0"/>
                </a:solidFill>
              </a:rPr>
              <a:t>OK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8680" y="3264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YOLO detects fire, smoke, 80 object classes + human pose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4360" y="3557016"/>
            <a:ext cx="201168" cy="201168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557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0"/>
                </a:solidFill>
              </a:rPr>
              <a:t>OK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68680" y="35570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Firebase secures admin login — no unauthorized access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4360" y="3849624"/>
            <a:ext cx="201168" cy="201168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849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0"/>
                </a:solidFill>
              </a:rPr>
              <a:t>OK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68680" y="38496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Every alert auto-saved to cloud with full metadata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94360" y="4142232"/>
            <a:ext cx="201168" cy="201168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0"/>
                </a:solidFill>
              </a:rPr>
              <a:t>OK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68680" y="4142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Email with embedded screenshot in under 5 seconds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4360" y="4434840"/>
            <a:ext cx="201168" cy="201168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434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0"/>
                </a:solidFill>
              </a:rPr>
              <a:t>OK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6868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D8E8"/>
                </a:solidFill>
              </a:rPr>
              <a:t>Excel report with charts downloadable on demand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2578608"/>
            <a:ext cx="4023360" cy="2121408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63440" y="2578608"/>
            <a:ext cx="4023360" cy="310896"/>
          </a:xfrm>
          <a:prstGeom prst="rect">
            <a:avLst/>
          </a:prstGeom>
          <a:solidFill>
            <a:srgbClr val="1120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[REPORT]  SYSTEM SUMMARY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29809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C60"/>
                </a:solidFill>
              </a:rPr>
              <a:t>Backend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15000" y="298094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8"/>
                </a:solidFill>
              </a:rPr>
              <a:t>Python · Flask · Flask-SocketIO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3255264"/>
            <a:ext cx="3749040" cy="0"/>
          </a:xfrm>
          <a:prstGeom prst="line">
            <a:avLst/>
          </a:prstGeom>
          <a:noFill/>
          <a:ln w="5080">
            <a:solidFill>
              <a:srgbClr val="1A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32735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C60"/>
                </a:solidFill>
              </a:rPr>
              <a:t>AI Engine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715000" y="32735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8"/>
                </a:solidFill>
              </a:rPr>
              <a:t>Ultralytics YOLOv8 (3 models)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54880" y="3547872"/>
            <a:ext cx="3749040" cy="0"/>
          </a:xfrm>
          <a:prstGeom prst="line">
            <a:avLst/>
          </a:prstGeom>
          <a:noFill/>
          <a:ln w="5080">
            <a:solidFill>
              <a:srgbClr val="1A3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C60"/>
                </a:solidFill>
              </a:rPr>
              <a:t>Auth / DB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715000" y="35661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8"/>
                </a:solidFill>
              </a:rPr>
              <a:t>Firebase Auth + Firestore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54880" y="3840480"/>
            <a:ext cx="3749040" cy="0"/>
          </a:xfrm>
          <a:prstGeom prst="line">
            <a:avLst/>
          </a:prstGeom>
          <a:noFill/>
          <a:ln w="5080">
            <a:solidFill>
              <a:srgbClr val="1A30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8587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C60"/>
                </a:solidFill>
              </a:rPr>
              <a:t>Alerts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715000" y="385876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8"/>
                </a:solidFill>
              </a:rPr>
              <a:t>Gmail SMTP · MIME HTML email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54880" y="4133088"/>
            <a:ext cx="3749040" cy="0"/>
          </a:xfrm>
          <a:prstGeom prst="line">
            <a:avLst/>
          </a:prstGeom>
          <a:noFill/>
          <a:ln w="5080">
            <a:solidFill>
              <a:srgbClr val="1A30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4151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C60"/>
                </a:solidFill>
              </a:rPr>
              <a:t>Export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715000" y="415137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8"/>
                </a:solidFill>
              </a:rPr>
              <a:t>openpyxl — 3-sheet Excel workbook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54880" y="4425696"/>
            <a:ext cx="3749040" cy="0"/>
          </a:xfrm>
          <a:prstGeom prst="line">
            <a:avLst/>
          </a:prstGeom>
          <a:noFill/>
          <a:ln w="5080">
            <a:solidFill>
              <a:srgbClr val="1A30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4443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C60"/>
                </a:solidFill>
              </a:rPr>
              <a:t>Frontend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715000" y="444398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D8E8"/>
                </a:solidFill>
              </a:rPr>
              <a:t>HTML/CSS/JS · Socket.IO · Chart.js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720"/>
          </a:solidFill>
          <a:ln w="12700">
            <a:solidFill>
              <a:srgbClr val="0D17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6400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06070"/>
                </a:solidFill>
              </a:rPr>
              <a:t>FirePro AI  |  Smart Surveillance System  |  Confidential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B10"/>
                </a:solidFill>
              </a:rPr>
              <a:t>06 — FUTURE SCOPE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Enhancements &amp; Scale-Up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2697480" cy="1664208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07008"/>
            <a:ext cx="54864" cy="1664208"/>
          </a:xfrm>
          <a:prstGeom prst="rect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371600"/>
            <a:ext cx="502920" cy="50292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B10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Consistency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34440" y="1828800"/>
            <a:ext cx="91440" cy="9144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1956816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only if object detected in 3+ consecutive frames — eliminates 90% of false positives from reflections and lights.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37560" y="1207008"/>
            <a:ext cx="2697480" cy="1664208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207008"/>
            <a:ext cx="54864" cy="1664208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02152" y="1371600"/>
            <a:ext cx="502920" cy="50292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B10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Support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0" y="1828800"/>
            <a:ext cx="91440" cy="9144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5576" y="1956816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webcams and RTSP IP cameras simultaneously with individual feed panels and per-camera detection zones.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17920" y="1207008"/>
            <a:ext cx="2697480" cy="1664208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207008"/>
            <a:ext cx="54864" cy="1664208"/>
          </a:xfrm>
          <a:prstGeom prst="rect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82512" y="1371600"/>
            <a:ext cx="502920" cy="502920"/>
          </a:xfrm>
          <a:prstGeom prst="ellipse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B10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Alerts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95160" y="1828800"/>
            <a:ext cx="91440" cy="91440"/>
          </a:xfrm>
          <a:prstGeom prst="ellipse">
            <a:avLst/>
          </a:prstGeom>
          <a:solidFill>
            <a:srgbClr val="30E878"/>
          </a:solidFill>
          <a:ln w="12700">
            <a:solidFill>
              <a:srgbClr val="30E8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1956816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message + photo to a Telegram group when threat detected. Faster than email, works on mobile with no app needed.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035808"/>
            <a:ext cx="2697480" cy="1664208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035808"/>
            <a:ext cx="54864" cy="16642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" y="320040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B10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34440" y="32186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Clip Recording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234440" y="365760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" y="3785616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Auto-record 30-second video clips when alert fires and upload to Firebase Storage as evidence for post-incident review.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37560" y="3035808"/>
            <a:ext cx="2697480" cy="1664208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37560" y="3035808"/>
            <a:ext cx="54864" cy="1664208"/>
          </a:xfrm>
          <a:prstGeom prst="rect">
            <a:avLst/>
          </a:prstGeom>
          <a:solidFill>
            <a:srgbClr val="FFCC60"/>
          </a:solidFill>
          <a:ln w="12700">
            <a:solidFill>
              <a:srgbClr val="FFCC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02152" y="3200400"/>
            <a:ext cx="502920" cy="502920"/>
          </a:xfrm>
          <a:prstGeom prst="ellipse">
            <a:avLst/>
          </a:prstGeom>
          <a:solidFill>
            <a:srgbClr val="FFCC60"/>
          </a:solidFill>
          <a:ln w="12700">
            <a:solidFill>
              <a:srgbClr val="FFCC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02152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B10"/>
                </a:solidFill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32186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AI Model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0" y="3657600"/>
            <a:ext cx="91440" cy="91440"/>
          </a:xfrm>
          <a:prstGeom prst="ellipse">
            <a:avLst/>
          </a:prstGeom>
          <a:solidFill>
            <a:srgbClr val="FFCC60"/>
          </a:solidFill>
          <a:ln w="12700">
            <a:solidFill>
              <a:srgbClr val="FFCC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65576" y="3785616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YOLOv8m (medium) or YOLOv8l (large) on custom fire+smoke dataset for 20-30% accuracy improvement over base model.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17920" y="3035808"/>
            <a:ext cx="2697480" cy="1664208"/>
          </a:xfrm>
          <a:prstGeom prst="rect">
            <a:avLst/>
          </a:prstGeom>
          <a:solidFill>
            <a:srgbClr val="0D1720"/>
          </a:solidFill>
          <a:ln w="6350">
            <a:solidFill>
              <a:srgbClr val="1A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3035808"/>
            <a:ext cx="54864" cy="1664208"/>
          </a:xfrm>
          <a:prstGeom prst="rect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82512" y="3200400"/>
            <a:ext cx="502920" cy="50292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B10"/>
                </a:solidFill>
              </a:rPr>
              <a:t>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95160" y="32186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 + SMS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95160" y="3657600"/>
            <a:ext cx="91440" cy="9144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45936" y="3785616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installable on phone. Twilio SMS alerts for critical HIGH severity events when email is too slow.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731520"/>
            <a:ext cx="6400800" cy="3657600"/>
          </a:xfrm>
          <a:prstGeom prst="rect">
            <a:avLst/>
          </a:prstGeom>
          <a:solidFill>
            <a:srgbClr val="0D1720"/>
          </a:solidFill>
          <a:ln w="9525">
            <a:solidFill>
              <a:srgbClr val="1A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731520"/>
            <a:ext cx="228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731520"/>
            <a:ext cx="0" cy="22860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0" y="731520"/>
            <a:ext cx="228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731520"/>
            <a:ext cx="0" cy="22860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4389120"/>
            <a:ext cx="228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4160520"/>
            <a:ext cx="0" cy="22860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3800" y="4389120"/>
            <a:ext cx="228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4160520"/>
            <a:ext cx="0" cy="22860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051560"/>
            <a:ext cx="164592" cy="914400"/>
          </a:xfrm>
          <a:prstGeom prst="rect">
            <a:avLst/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932688"/>
            <a:ext cx="201168" cy="10332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051560"/>
            <a:ext cx="146304" cy="914400"/>
          </a:xfrm>
          <a:prstGeom prst="rect">
            <a:avLst/>
          </a:prstGeom>
          <a:solidFill>
            <a:srgbClr val="FFCC60"/>
          </a:solidFill>
          <a:ln w="12700">
            <a:solidFill>
              <a:srgbClr val="FFCC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99339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2743200" y="2816352"/>
            <a:ext cx="3657600" cy="0"/>
          </a:xfrm>
          <a:prstGeom prst="line">
            <a:avLst/>
          </a:prstGeom>
          <a:noFill/>
          <a:ln w="9525">
            <a:solidFill>
              <a:srgbClr val="1A3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90779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FirePro AI — Smart Fire &amp; Object Surveillance System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32918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06070"/>
                </a:solidFill>
              </a:rPr>
              <a:t>Built with  Python · Flask · YOLOv8 · Firebase · Gmail SMTP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08760" y="3730752"/>
            <a:ext cx="1417320" cy="292608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3730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60"/>
                </a:solidFill>
              </a:rPr>
              <a:t>Real-Time Detection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044952" y="3730752"/>
            <a:ext cx="1417320" cy="292608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4952" y="3730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60"/>
                </a:solidFill>
              </a:rPr>
              <a:t>Cloud Storage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81144" y="3730752"/>
            <a:ext cx="1417320" cy="292608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1144" y="3730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60"/>
                </a:solidFill>
              </a:rPr>
              <a:t>Email Alerts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17336" y="3730752"/>
            <a:ext cx="1417320" cy="292608"/>
          </a:xfrm>
          <a:prstGeom prst="rect">
            <a:avLst/>
          </a:prstGeom>
          <a:solidFill>
            <a:srgbClr val="112030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37307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60"/>
                </a:solidFill>
              </a:rPr>
              <a:t>Web Dashboard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FirePro AI — Smart Surveillance System</dc:title>
  <dc:subject>PptxGenJS Presentation</dc:subject>
  <dc:creator>FirePro AI Team</dc:creator>
  <cp:lastModifiedBy>FirePro AI Team</cp:lastModifiedBy>
  <cp:revision>1</cp:revision>
  <dcterms:created xsi:type="dcterms:W3CDTF">2026-04-22T10:03:01Z</dcterms:created>
  <dcterms:modified xsi:type="dcterms:W3CDTF">2026-04-22T10:03:01Z</dcterms:modified>
</cp:coreProperties>
</file>